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  <p:sldMasterId id="2147483726" r:id="rId2"/>
  </p:sldMasterIdLst>
  <p:notesMasterIdLst>
    <p:notesMasterId r:id="rId8"/>
  </p:notesMasterIdLst>
  <p:sldIdLst>
    <p:sldId id="257" r:id="rId3"/>
    <p:sldId id="11433" r:id="rId4"/>
    <p:sldId id="11434" r:id="rId5"/>
    <p:sldId id="375" r:id="rId6"/>
    <p:sldId id="277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E73"/>
    <a:srgbClr val="4F5764"/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9"/>
  </p:normalViewPr>
  <p:slideViewPr>
    <p:cSldViewPr snapToGrid="0" snapToObjects="1">
      <p:cViewPr varScale="1">
        <p:scale>
          <a:sx n="141" d="100"/>
          <a:sy n="141" d="100"/>
        </p:scale>
        <p:origin x="704" y="176"/>
      </p:cViewPr>
      <p:guideLst>
        <p:guide orient="horz" pos="16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A3B6B-DA47-6145-A916-4C71632D9FE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CAFCE-C102-6747-9B79-E03F9BCB8C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2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5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3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5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1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1262"/>
            <a:ext cx="4038600" cy="3397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262"/>
            <a:ext cx="4038600" cy="3397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9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1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0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981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7326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3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5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8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2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169"/>
            <a:ext cx="2057400" cy="439270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169"/>
            <a:ext cx="6019800" cy="439270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4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635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8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1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7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4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  <a:prstGeom prst="rect">
            <a:avLst/>
          </a:prstGeom>
        </p:spPr>
        <p:txBody>
          <a:bodyPr anchor="t"/>
          <a:lstStyle>
            <a:lvl1pPr algn="l">
              <a:defRPr sz="399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5"/>
            <a:ext cx="7772400" cy="112618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6">
                <a:solidFill>
                  <a:schemeClr val="tx1">
                    <a:tint val="75000"/>
                  </a:schemeClr>
                </a:solidFill>
              </a:defRPr>
            </a:lvl1pPr>
            <a:lvl2pPr marL="456378" indent="0">
              <a:buNone/>
              <a:defRPr sz="1796">
                <a:solidFill>
                  <a:schemeClr val="tx1">
                    <a:tint val="75000"/>
                  </a:schemeClr>
                </a:solidFill>
              </a:defRPr>
            </a:lvl2pPr>
            <a:lvl3pPr marL="9127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69133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551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1887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38264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4642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1019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0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41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794"/>
            </a:lvl1pPr>
            <a:lvl2pPr>
              <a:defRPr sz="2396"/>
            </a:lvl2pPr>
            <a:lvl3pPr>
              <a:defRPr sz="1996"/>
            </a:lvl3pPr>
            <a:lvl4pPr>
              <a:defRPr sz="1796"/>
            </a:lvl4pPr>
            <a:lvl5pPr>
              <a:defRPr sz="1796"/>
            </a:lvl5pPr>
            <a:lvl6pPr>
              <a:defRPr sz="1796"/>
            </a:lvl6pPr>
            <a:lvl7pPr>
              <a:defRPr sz="1796"/>
            </a:lvl7pPr>
            <a:lvl8pPr>
              <a:defRPr sz="1796"/>
            </a:lvl8pPr>
            <a:lvl9pPr>
              <a:defRPr sz="17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41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794"/>
            </a:lvl1pPr>
            <a:lvl2pPr>
              <a:defRPr sz="2396"/>
            </a:lvl2pPr>
            <a:lvl3pPr>
              <a:defRPr sz="1996"/>
            </a:lvl3pPr>
            <a:lvl4pPr>
              <a:defRPr sz="1796"/>
            </a:lvl4pPr>
            <a:lvl5pPr>
              <a:defRPr sz="1796"/>
            </a:lvl5pPr>
            <a:lvl6pPr>
              <a:defRPr sz="1796"/>
            </a:lvl6pPr>
            <a:lvl7pPr>
              <a:defRPr sz="1796"/>
            </a:lvl7pPr>
            <a:lvl8pPr>
              <a:defRPr sz="1796"/>
            </a:lvl8pPr>
            <a:lvl9pPr>
              <a:defRPr sz="17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31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6" b="1"/>
            </a:lvl1pPr>
            <a:lvl2pPr marL="456378" indent="0">
              <a:buNone/>
              <a:defRPr sz="1996" b="1"/>
            </a:lvl2pPr>
            <a:lvl3pPr marL="912755" indent="0">
              <a:buNone/>
              <a:defRPr sz="1796" b="1"/>
            </a:lvl3pPr>
            <a:lvl4pPr marL="1369133" indent="0">
              <a:buNone/>
              <a:defRPr sz="1598" b="1"/>
            </a:lvl4pPr>
            <a:lvl5pPr marL="1825510" indent="0">
              <a:buNone/>
              <a:defRPr sz="1598" b="1"/>
            </a:lvl5pPr>
            <a:lvl6pPr marL="2281887" indent="0">
              <a:buNone/>
              <a:defRPr sz="1598" b="1"/>
            </a:lvl6pPr>
            <a:lvl7pPr marL="2738264" indent="0">
              <a:buNone/>
              <a:defRPr sz="1598" b="1"/>
            </a:lvl7pPr>
            <a:lvl8pPr marL="3194642" indent="0">
              <a:buNone/>
              <a:defRPr sz="1598" b="1"/>
            </a:lvl8pPr>
            <a:lvl9pPr marL="3651019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  <a:prstGeom prst="rect">
            <a:avLst/>
          </a:prstGeom>
        </p:spPr>
        <p:txBody>
          <a:bodyPr/>
          <a:lstStyle>
            <a:lvl1pPr>
              <a:defRPr sz="2396"/>
            </a:lvl1pPr>
            <a:lvl2pPr>
              <a:defRPr sz="1996"/>
            </a:lvl2pPr>
            <a:lvl3pPr>
              <a:defRPr sz="179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2401"/>
            <a:ext cx="4041775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6" b="1"/>
            </a:lvl1pPr>
            <a:lvl2pPr marL="456378" indent="0">
              <a:buNone/>
              <a:defRPr sz="1996" b="1"/>
            </a:lvl2pPr>
            <a:lvl3pPr marL="912755" indent="0">
              <a:buNone/>
              <a:defRPr sz="1796" b="1"/>
            </a:lvl3pPr>
            <a:lvl4pPr marL="1369133" indent="0">
              <a:buNone/>
              <a:defRPr sz="1598" b="1"/>
            </a:lvl4pPr>
            <a:lvl5pPr marL="1825510" indent="0">
              <a:buNone/>
              <a:defRPr sz="1598" b="1"/>
            </a:lvl5pPr>
            <a:lvl6pPr marL="2281887" indent="0">
              <a:buNone/>
              <a:defRPr sz="1598" b="1"/>
            </a:lvl6pPr>
            <a:lvl7pPr marL="2738264" indent="0">
              <a:buNone/>
              <a:defRPr sz="1598" b="1"/>
            </a:lvl7pPr>
            <a:lvl8pPr marL="3194642" indent="0">
              <a:buNone/>
              <a:defRPr sz="1598" b="1"/>
            </a:lvl8pPr>
            <a:lvl9pPr marL="3651019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2667"/>
            <a:ext cx="4041775" cy="2966210"/>
          </a:xfrm>
          <a:prstGeom prst="rect">
            <a:avLst/>
          </a:prstGeom>
        </p:spPr>
        <p:txBody>
          <a:bodyPr/>
          <a:lstStyle>
            <a:lvl1pPr>
              <a:defRPr sz="2396"/>
            </a:lvl1pPr>
            <a:lvl2pPr>
              <a:defRPr sz="1996"/>
            </a:lvl2pPr>
            <a:lvl3pPr>
              <a:defRPr sz="1796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95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37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08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980"/>
            <a:ext cx="3008313" cy="872345"/>
          </a:xfrm>
          <a:prstGeom prst="rect">
            <a:avLst/>
          </a:prstGeom>
        </p:spPr>
        <p:txBody>
          <a:bodyPr anchor="b"/>
          <a:lstStyle>
            <a:lvl1pPr algn="l">
              <a:defRPr sz="19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  <a:prstGeom prst="rect">
            <a:avLst/>
          </a:prstGeom>
        </p:spPr>
        <p:txBody>
          <a:bodyPr/>
          <a:lstStyle>
            <a:lvl1pPr>
              <a:defRPr sz="3194"/>
            </a:lvl1pPr>
            <a:lvl2pPr>
              <a:defRPr sz="2794"/>
            </a:lvl2pPr>
            <a:lvl3pPr>
              <a:defRPr sz="2396"/>
            </a:lvl3pPr>
            <a:lvl4pPr>
              <a:defRPr sz="1996"/>
            </a:lvl4pPr>
            <a:lvl5pPr>
              <a:defRPr sz="1996"/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7325"/>
            <a:ext cx="3008313" cy="352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98"/>
            </a:lvl1pPr>
            <a:lvl2pPr marL="456378" indent="0">
              <a:buNone/>
              <a:defRPr sz="1198"/>
            </a:lvl2pPr>
            <a:lvl3pPr marL="912755" indent="0">
              <a:buNone/>
              <a:defRPr sz="998"/>
            </a:lvl3pPr>
            <a:lvl4pPr marL="1369133" indent="0">
              <a:buNone/>
              <a:defRPr sz="898"/>
            </a:lvl4pPr>
            <a:lvl5pPr marL="1825510" indent="0">
              <a:buNone/>
              <a:defRPr sz="898"/>
            </a:lvl5pPr>
            <a:lvl6pPr marL="2281887" indent="0">
              <a:buNone/>
              <a:defRPr sz="898"/>
            </a:lvl6pPr>
            <a:lvl7pPr marL="2738264" indent="0">
              <a:buNone/>
              <a:defRPr sz="898"/>
            </a:lvl7pPr>
            <a:lvl8pPr marL="3194642" indent="0">
              <a:buNone/>
              <a:defRPr sz="898"/>
            </a:lvl8pPr>
            <a:lvl9pPr marL="3651019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23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6"/>
            <a:ext cx="5486400" cy="425447"/>
          </a:xfrm>
          <a:prstGeom prst="rect">
            <a:avLst/>
          </a:prstGeom>
        </p:spPr>
        <p:txBody>
          <a:bodyPr anchor="b"/>
          <a:lstStyle>
            <a:lvl1pPr algn="l">
              <a:defRPr sz="19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4"/>
            </a:lvl1pPr>
            <a:lvl2pPr marL="456378" indent="0">
              <a:buNone/>
              <a:defRPr sz="2794"/>
            </a:lvl2pPr>
            <a:lvl3pPr marL="912755" indent="0">
              <a:buNone/>
              <a:defRPr sz="2396"/>
            </a:lvl3pPr>
            <a:lvl4pPr marL="1369133" indent="0">
              <a:buNone/>
              <a:defRPr sz="1996"/>
            </a:lvl4pPr>
            <a:lvl5pPr marL="1825510" indent="0">
              <a:buNone/>
              <a:defRPr sz="1996"/>
            </a:lvl5pPr>
            <a:lvl6pPr marL="2281887" indent="0">
              <a:buNone/>
              <a:defRPr sz="1996"/>
            </a:lvl6pPr>
            <a:lvl7pPr marL="2738264" indent="0">
              <a:buNone/>
              <a:defRPr sz="1996"/>
            </a:lvl7pPr>
            <a:lvl8pPr marL="3194642" indent="0">
              <a:buNone/>
              <a:defRPr sz="1996"/>
            </a:lvl8pPr>
            <a:lvl9pPr marL="3651019" indent="0">
              <a:buNone/>
              <a:defRPr sz="19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4"/>
            <a:ext cx="5486400" cy="60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98"/>
            </a:lvl1pPr>
            <a:lvl2pPr marL="456378" indent="0">
              <a:buNone/>
              <a:defRPr sz="1198"/>
            </a:lvl2pPr>
            <a:lvl3pPr marL="912755" indent="0">
              <a:buNone/>
              <a:defRPr sz="998"/>
            </a:lvl3pPr>
            <a:lvl4pPr marL="1369133" indent="0">
              <a:buNone/>
              <a:defRPr sz="898"/>
            </a:lvl4pPr>
            <a:lvl5pPr marL="1825510" indent="0">
              <a:buNone/>
              <a:defRPr sz="898"/>
            </a:lvl5pPr>
            <a:lvl6pPr marL="2281887" indent="0">
              <a:buNone/>
              <a:defRPr sz="898"/>
            </a:lvl6pPr>
            <a:lvl7pPr marL="2738264" indent="0">
              <a:buNone/>
              <a:defRPr sz="898"/>
            </a:lvl7pPr>
            <a:lvl8pPr marL="3194642" indent="0">
              <a:buNone/>
              <a:defRPr sz="898"/>
            </a:lvl8pPr>
            <a:lvl9pPr marL="3651019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04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63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7"/>
            <a:ext cx="2057400" cy="329751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7"/>
            <a:ext cx="6019800" cy="32975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81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81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464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8838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403838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5718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1812732" y="864750"/>
            <a:ext cx="5518547" cy="1742901"/>
          </a:xfrm>
          <a:prstGeom prst="rect">
            <a:avLst/>
          </a:prstGeom>
        </p:spPr>
        <p:txBody>
          <a:bodyPr anchor="b"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812732" y="2654575"/>
            <a:ext cx="5518547" cy="59660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48"/>
            </a:lvl1pPr>
            <a:lvl2pPr marL="0" indent="85571" algn="ctr">
              <a:spcBef>
                <a:spcPts val="0"/>
              </a:spcBef>
              <a:buSzTx/>
              <a:buNone/>
              <a:defRPr sz="1648"/>
            </a:lvl2pPr>
            <a:lvl3pPr marL="0" indent="171142" algn="ctr">
              <a:spcBef>
                <a:spcPts val="0"/>
              </a:spcBef>
              <a:buSzTx/>
              <a:buNone/>
              <a:defRPr sz="1648"/>
            </a:lvl3pPr>
            <a:lvl4pPr marL="0" indent="256713" algn="ctr">
              <a:spcBef>
                <a:spcPts val="0"/>
              </a:spcBef>
              <a:buSzTx/>
              <a:buNone/>
              <a:defRPr sz="1648"/>
            </a:lvl4pPr>
            <a:lvl5pPr marL="0" indent="342283" algn="ctr">
              <a:spcBef>
                <a:spcPts val="0"/>
              </a:spcBef>
              <a:buSzTx/>
              <a:buNone/>
              <a:defRPr sz="1648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50945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45295" y="234624"/>
            <a:ext cx="5853410" cy="113958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>
          <a:xfrm>
            <a:off x="4400342" y="4883478"/>
            <a:ext cx="336631" cy="28303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8035290" y="-6851"/>
            <a:ext cx="925830" cy="637302"/>
          </a:xfrm>
          <a:prstGeom prst="rect">
            <a:avLst/>
          </a:prstGeom>
          <a:solidFill>
            <a:srgbClr val="141516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305" tIns="71305" rIns="71305" bIns="71305" numCol="1" spcCol="38100" rtlCol="0" anchor="ctr">
            <a:spAutoFit/>
          </a:bodyPr>
          <a:lstStyle/>
          <a:p>
            <a:pPr marL="0" marR="0" indent="0" algn="ctr" defTabSz="82005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194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201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5.sv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82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E9205-9656-6046-8C3D-28FDB8803E63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82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82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49B36-4058-3742-A64C-523393E04A2E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2"/>
            <a:ext cx="9144000" cy="5148263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8046161" y="222268"/>
            <a:ext cx="902386" cy="141765"/>
            <a:chOff x="7919542" y="328894"/>
            <a:chExt cx="957000" cy="150345"/>
          </a:xfrm>
        </p:grpSpPr>
        <p:pic>
          <p:nvPicPr>
            <p:cNvPr id="9" name="Imagem 1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0" name="Picture 9" descr="mba.png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 userDrawn="1"/>
        </p:nvSpPr>
        <p:spPr>
          <a:xfrm>
            <a:off x="176723" y="4816811"/>
            <a:ext cx="786943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dirty="0">
                <a:solidFill>
                  <a:srgbClr val="646D7A"/>
                </a:solidFill>
                <a:latin typeface="Gotham HTF Medium"/>
                <a:cs typeface="Gotham HTF Medium"/>
              </a:rPr>
              <a:t>TÍTULO DA APRESENTAÇÃO OU TÍTULO PRINCIPAL DO DOCUMENTO</a:t>
            </a:r>
          </a:p>
        </p:txBody>
      </p:sp>
    </p:spTree>
    <p:extLst>
      <p:ext uri="{BB962C8B-B14F-4D97-AF65-F5344CB8AC3E}">
        <p14:creationId xmlns:p14="http://schemas.microsoft.com/office/powerpoint/2010/main" val="83761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4CE4504-2FB0-4138-B474-2003D0B5834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5946" y="211488"/>
            <a:ext cx="8732115" cy="472529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DA2537-4423-422C-A401-88DC5C2C12F4}"/>
              </a:ext>
            </a:extLst>
          </p:cNvPr>
          <p:cNvSpPr/>
          <p:nvPr userDrawn="1"/>
        </p:nvSpPr>
        <p:spPr>
          <a:xfrm>
            <a:off x="951982" y="1252605"/>
            <a:ext cx="413359" cy="2740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6"/>
          </a:p>
        </p:txBody>
      </p:sp>
      <p:sp>
        <p:nvSpPr>
          <p:cNvPr id="4" name="Retângulo 3"/>
          <p:cNvSpPr/>
          <p:nvPr userDrawn="1"/>
        </p:nvSpPr>
        <p:spPr>
          <a:xfrm>
            <a:off x="7167489" y="4463588"/>
            <a:ext cx="1385668" cy="535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8"/>
          </a:p>
        </p:txBody>
      </p:sp>
    </p:spTree>
    <p:extLst>
      <p:ext uri="{BB962C8B-B14F-4D97-AF65-F5344CB8AC3E}">
        <p14:creationId xmlns:p14="http://schemas.microsoft.com/office/powerpoint/2010/main" val="115398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ctr" defTabSz="456378" rtl="0" eaLnBrk="1" latinLnBrk="0" hangingPunct="1">
        <a:spcBef>
          <a:spcPct val="0"/>
        </a:spcBef>
        <a:buNone/>
        <a:defRPr sz="4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83" indent="-342283" algn="l" defTabSz="456378" rtl="0" eaLnBrk="1" latinLnBrk="0" hangingPunct="1">
        <a:spcBef>
          <a:spcPct val="20000"/>
        </a:spcBef>
        <a:buFont typeface="Arial"/>
        <a:buChar char="•"/>
        <a:defRPr sz="3194" kern="1200">
          <a:solidFill>
            <a:schemeClr val="tx1"/>
          </a:solidFill>
          <a:latin typeface="+mn-lt"/>
          <a:ea typeface="+mn-ea"/>
          <a:cs typeface="+mn-cs"/>
        </a:defRPr>
      </a:lvl1pPr>
      <a:lvl2pPr marL="741613" indent="-285236" algn="l" defTabSz="456378" rtl="0" eaLnBrk="1" latinLnBrk="0" hangingPunct="1">
        <a:spcBef>
          <a:spcPct val="20000"/>
        </a:spcBef>
        <a:buFont typeface="Arial"/>
        <a:buChar char="–"/>
        <a:defRPr sz="27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943" indent="-228188" algn="l" defTabSz="456378" rtl="0" eaLnBrk="1" latinLnBrk="0" hangingPunct="1">
        <a:spcBef>
          <a:spcPct val="20000"/>
        </a:spcBef>
        <a:buFont typeface="Arial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3pPr>
      <a:lvl4pPr marL="1597321" indent="-228188" algn="l" defTabSz="456378" rtl="0" eaLnBrk="1" latinLnBrk="0" hangingPunct="1">
        <a:spcBef>
          <a:spcPct val="20000"/>
        </a:spcBef>
        <a:buFont typeface="Arial"/>
        <a:buChar char="–"/>
        <a:defRPr sz="1996" kern="1200">
          <a:solidFill>
            <a:schemeClr val="tx1"/>
          </a:solidFill>
          <a:latin typeface="+mn-lt"/>
          <a:ea typeface="+mn-ea"/>
          <a:cs typeface="+mn-cs"/>
        </a:defRPr>
      </a:lvl4pPr>
      <a:lvl5pPr marL="2053698" indent="-228188" algn="l" defTabSz="456378" rtl="0" eaLnBrk="1" latinLnBrk="0" hangingPunct="1">
        <a:spcBef>
          <a:spcPct val="20000"/>
        </a:spcBef>
        <a:buFont typeface="Arial"/>
        <a:buChar char="»"/>
        <a:defRPr sz="1996" kern="1200">
          <a:solidFill>
            <a:schemeClr val="tx1"/>
          </a:solidFill>
          <a:latin typeface="+mn-lt"/>
          <a:ea typeface="+mn-ea"/>
          <a:cs typeface="+mn-cs"/>
        </a:defRPr>
      </a:lvl5pPr>
      <a:lvl6pPr marL="2510076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6pPr>
      <a:lvl7pPr marL="2966453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7pPr>
      <a:lvl8pPr marL="3422831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8pPr>
      <a:lvl9pPr marL="3879208" indent="-228188" algn="l" defTabSz="456378" rtl="0" eaLnBrk="1" latinLnBrk="0" hangingPunct="1">
        <a:spcBef>
          <a:spcPct val="20000"/>
        </a:spcBef>
        <a:buFont typeface="Arial"/>
        <a:buChar char="•"/>
        <a:defRPr sz="19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1pPr>
      <a:lvl2pPr marL="456378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912755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3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4pPr>
      <a:lvl5pPr marL="1825510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5pPr>
      <a:lvl6pPr marL="2281887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6pPr>
      <a:lvl7pPr marL="2738264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7pPr>
      <a:lvl8pPr marL="3194642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8pPr>
      <a:lvl9pPr marL="3651019" algn="l" defTabSz="456378" rtl="0" eaLnBrk="1" latinLnBrk="0" hangingPunct="1">
        <a:defRPr sz="17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8" y="-4763"/>
            <a:ext cx="9160936" cy="5153026"/>
          </a:xfrm>
          <a:prstGeom prst="rect">
            <a:avLst/>
          </a:prstGeom>
        </p:spPr>
      </p:pic>
      <p:pic>
        <p:nvPicPr>
          <p:cNvPr id="4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454" y="1018281"/>
            <a:ext cx="1809092" cy="486646"/>
          </a:xfrm>
          <a:prstGeom prst="rect">
            <a:avLst/>
          </a:prstGeom>
        </p:spPr>
      </p:pic>
      <p:pic>
        <p:nvPicPr>
          <p:cNvPr id="2" name="Picture 1" descr="fiap_elemento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6B96235-4677-EFEF-9F31-F17EE3C00BB0}"/>
              </a:ext>
            </a:extLst>
          </p:cNvPr>
          <p:cNvGraphicFramePr>
            <a:graphicFrameLocks noGrp="1"/>
          </p:cNvGraphicFramePr>
          <p:nvPr/>
        </p:nvGraphicFramePr>
        <p:xfrm>
          <a:off x="707258" y="928634"/>
          <a:ext cx="7858790" cy="37087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1662">
                  <a:extLst>
                    <a:ext uri="{9D8B030D-6E8A-4147-A177-3AD203B41FA5}">
                      <a16:colId xmlns:a16="http://schemas.microsoft.com/office/drawing/2014/main" val="3122552140"/>
                    </a:ext>
                  </a:extLst>
                </a:gridCol>
                <a:gridCol w="2083493">
                  <a:extLst>
                    <a:ext uri="{9D8B030D-6E8A-4147-A177-3AD203B41FA5}">
                      <a16:colId xmlns:a16="http://schemas.microsoft.com/office/drawing/2014/main" val="2854321480"/>
                    </a:ext>
                  </a:extLst>
                </a:gridCol>
                <a:gridCol w="5453635">
                  <a:extLst>
                    <a:ext uri="{9D8B030D-6E8A-4147-A177-3AD203B41FA5}">
                      <a16:colId xmlns:a16="http://schemas.microsoft.com/office/drawing/2014/main" val="3367439708"/>
                    </a:ext>
                  </a:extLst>
                </a:gridCol>
              </a:tblGrid>
              <a:tr h="109658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 err="1">
                          <a:effectLst/>
                        </a:rPr>
                        <a:t>Var_Id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Característica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Descrição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204042335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ID_CLIENTE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Número sequencial para o requerente (a ser usado como chave)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06387658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TIPO_FUNCIONARIO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34564931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DIA_PAGAMENTO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Dia do mês para o pagamento da fatura, escolhido pelo requerente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97786450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TIPO_ENVIO_APLICACAO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a aplicação foi submetida via internet ou pessoalmente/enviada pelo correio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4328517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QUANT_CARTOES_ADICIONAIS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Quantidade de cartões adicionais solicitados no mesmo formulário de aplicação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24874636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TIPO_ENDERECO_POSTAL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endereço para envio é o endereço residencial ou outro. Codificação não informada.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46120385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SEXO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1309649035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ESTADO_CIVIL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007961506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QUANT_DEPENDENTES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99012208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NIVEL_EDUCACIONAL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Nível educacional em ordem gradual 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12509357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ESTADO_NASCIMENTO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163461195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CIDADE_NASCIMENTO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extLst>
                  <a:ext uri="{0D108BD9-81ED-4DB2-BD59-A6C34878D82A}">
                    <a16:rowId xmlns:a16="http://schemas.microsoft.com/office/drawing/2014/main" val="633816542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NACIONALIDADE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País de nascimento. Codificação não informada, mas é provável que o Brasil seja igual a 1.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74694193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091475299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762922613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 de residência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25485079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telefone 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553807985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CODIGO_AREA_TELEFONE_RESIDENCIAL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 err="1">
                          <a:effectLst/>
                        </a:rPr>
                        <a:t>Pseudo-código</a:t>
                      </a:r>
                      <a:r>
                        <a:rPr lang="pt-BR" sz="900" u="none" strike="noStrike">
                          <a:effectLst/>
                        </a:rPr>
                        <a:t> de três dígitos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535858127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19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TIPO_RESIDENCIA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Codificação não informada. Em geral, existem tipos como: própria, hipotecada, alugada, dos pais, familiar, etc.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96473445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MESES_RESIDENCIA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Tempo na residência atual em meses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3221278164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FLAG_TELEFONE_MOVEL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telefone móvel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4079398848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FLAG_EMAIL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requerente possui um endereço de e-mail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973363300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RENDA_PESSOAL_MENSAL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Renda mensal regular pessoal do requerente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1364976470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OUTRAS_RENDAS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Outras rendas mensais médias do requerente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364040381"/>
                  </a:ext>
                </a:extLst>
              </a:tr>
              <a:tr h="126106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83" marR="5483" marT="5483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FLAG_VISA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VISA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9346" marR="5483" marT="5483" marB="0" anchor="ctr"/>
                </a:tc>
                <a:extLst>
                  <a:ext uri="{0D108BD9-81ED-4DB2-BD59-A6C34878D82A}">
                    <a16:rowId xmlns:a16="http://schemas.microsoft.com/office/drawing/2014/main" val="248982862"/>
                  </a:ext>
                </a:extLst>
              </a:tr>
            </a:tbl>
          </a:graphicData>
        </a:graphic>
      </p:graphicFrame>
      <p:sp>
        <p:nvSpPr>
          <p:cNvPr id="5" name="TextBox 59">
            <a:extLst>
              <a:ext uri="{FF2B5EF4-FFF2-40B4-BE49-F238E27FC236}">
                <a16:creationId xmlns:a16="http://schemas.microsoft.com/office/drawing/2014/main" id="{7978534D-6768-ED9E-D169-0104CFDE45E3}"/>
              </a:ext>
            </a:extLst>
          </p:cNvPr>
          <p:cNvSpPr txBox="1"/>
          <p:nvPr/>
        </p:nvSpPr>
        <p:spPr>
          <a:xfrm>
            <a:off x="692394" y="540784"/>
            <a:ext cx="7887855" cy="38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8074" hangingPunct="0"/>
            <a:r>
              <a:rPr lang="pt-BR" sz="1873" kern="0" dirty="0">
                <a:solidFill>
                  <a:srgbClr val="FF0066"/>
                </a:solidFill>
                <a:latin typeface="Gotham HTF" pitchFamily="50" charset="0"/>
                <a:cs typeface="Gotham HTF Bold"/>
                <a:sym typeface="Helvetica Light"/>
              </a:rPr>
              <a:t>DATA SET - Dicionário de dados </a:t>
            </a:r>
          </a:p>
        </p:txBody>
      </p:sp>
      <p:sp>
        <p:nvSpPr>
          <p:cNvPr id="2" name="TextBox 59">
            <a:extLst>
              <a:ext uri="{FF2B5EF4-FFF2-40B4-BE49-F238E27FC236}">
                <a16:creationId xmlns:a16="http://schemas.microsoft.com/office/drawing/2014/main" id="{1C7B0C5D-8F47-70B1-92F8-04D63D5052E4}"/>
              </a:ext>
            </a:extLst>
          </p:cNvPr>
          <p:cNvSpPr txBox="1"/>
          <p:nvPr/>
        </p:nvSpPr>
        <p:spPr>
          <a:xfrm>
            <a:off x="461519" y="190786"/>
            <a:ext cx="5217774" cy="33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89"/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Data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Processing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with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Python</a:t>
            </a:r>
            <a:endParaRPr lang="pt-BR" sz="1599">
              <a:solidFill>
                <a:srgbClr val="ED145B"/>
              </a:solidFill>
              <a:latin typeface="Gotham HTF Light"/>
              <a:cs typeface="Gotham HTF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496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A3DBC5D-2F86-94F5-22F2-34F0E2178ED1}"/>
              </a:ext>
            </a:extLst>
          </p:cNvPr>
          <p:cNvGraphicFramePr>
            <a:graphicFrameLocks noGrp="1"/>
          </p:cNvGraphicFramePr>
          <p:nvPr/>
        </p:nvGraphicFramePr>
        <p:xfrm>
          <a:off x="550844" y="750881"/>
          <a:ext cx="7956626" cy="425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5666">
                  <a:extLst>
                    <a:ext uri="{9D8B030D-6E8A-4147-A177-3AD203B41FA5}">
                      <a16:colId xmlns:a16="http://schemas.microsoft.com/office/drawing/2014/main" val="2581107540"/>
                    </a:ext>
                  </a:extLst>
                </a:gridCol>
                <a:gridCol w="2109432">
                  <a:extLst>
                    <a:ext uri="{9D8B030D-6E8A-4147-A177-3AD203B41FA5}">
                      <a16:colId xmlns:a16="http://schemas.microsoft.com/office/drawing/2014/main" val="634357213"/>
                    </a:ext>
                  </a:extLst>
                </a:gridCol>
                <a:gridCol w="5521528">
                  <a:extLst>
                    <a:ext uri="{9D8B030D-6E8A-4147-A177-3AD203B41FA5}">
                      <a16:colId xmlns:a16="http://schemas.microsoft.com/office/drawing/2014/main" val="242988480"/>
                    </a:ext>
                  </a:extLst>
                </a:gridCol>
              </a:tblGrid>
              <a:tr h="10220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Var_Id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Característica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Descrição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extLst>
                  <a:ext uri="{0D108BD9-81ED-4DB2-BD59-A6C34878D82A}">
                    <a16:rowId xmlns:a16="http://schemas.microsoft.com/office/drawing/2014/main" val="1681210800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FLAG_MASTERCARD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MASTERCARD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7745804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FLAG_DINERS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DINERS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983132884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FLAG_AMERICAN_EXPRESS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é titular de um cartão de crédito AMERICAN EXPRESS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5624521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29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FLAG_OUTROS_CARTOES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Apesar de ser rotulado como "FLAG", esse campo apresenta três valores não explicados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45453386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QUANT_CONTAS_BANCARIAS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6453991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QUANT_CONTAS_BANCARIAS_ESPECIAIS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77989604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VALOR_PATRIMONIO_PESSOAL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Valor total dos bens pessoais, como casas, carros, etc., em moeda brasileira (R$)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54319654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QUANT_CARROS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Quantidade de carros que o requerente possui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0184948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EMPRESA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Se o requerente forneceu o nome da empresa onde ele/ela trabalha formalmente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53820876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Estado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15075031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Cidade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50398339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Bairro onde o requerente trabalha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178307715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FLAG_TELEFONE_PROFISSIONAL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 se o número de telefone profissional foi fornecido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518886603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39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CODIGO_AREA_TELEFONE_PROFISSIONAL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Pseudo-código de três dígitos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64138873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MESES_NO_TRABALHO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Tempo no emprego atual em meses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90798172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CODIGO_PROFISSAO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Código profissional do requerente.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77814482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TIPO_OCUPACAO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182436764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CODIGO_PROFISSAO_CONJUGE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Código profissional do cônjuge.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26996022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NIVEL_EDUCACIONAL_CONJUGE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Nível educacional do cônjuge em ordem gradual não informado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62394976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45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FLAG_DOCUMENTO_RESIDENCIAL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endereço residencial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67063278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46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FLAG_RG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número do cartão de cidadão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450984121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47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FLAG_CPF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do status de contribuinte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75878976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48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FLAG_COMPROVANTE_RENDA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de confirmação documental da renda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07593780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49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PRODUTO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Tipo de produto de crédito aplicado. Codificação não informada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66585019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FLAG_REGISTRO_ACSP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Indicador se o requerente possui alguma inadimplência de crédito anterior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2754166276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51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IDADE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Idade do requerente no momento da inscrição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3983364065"/>
                  </a:ext>
                </a:extLst>
              </a:tr>
              <a:tr h="10220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52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CEP_RESIDENCIAL_3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Três dígitos mais significativos do CEP residencial atual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9462887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53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CEP_PROFISSIONAL_3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Três dígitos mais significativos do CEP do emprego atual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1017065102"/>
                  </a:ext>
                </a:extLst>
              </a:tr>
              <a:tr h="1144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u="none" strike="noStrike">
                          <a:effectLst/>
                        </a:rPr>
                        <a:t>54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8" marR="4768" marT="4768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ROTULO_ALVO_MAU=1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u="none" strike="noStrike">
                          <a:effectLst/>
                        </a:rPr>
                        <a:t>Variável Alvo: BAD=1, BOM=0</a:t>
                      </a:r>
                      <a:endParaRPr lang="pt-BR" sz="900" b="0" i="0" u="none" strike="noStrike">
                        <a:solidFill>
                          <a:srgbClr val="37415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913" marR="4768" marT="4768" marB="0" anchor="ctr"/>
                </a:tc>
                <a:extLst>
                  <a:ext uri="{0D108BD9-81ED-4DB2-BD59-A6C34878D82A}">
                    <a16:rowId xmlns:a16="http://schemas.microsoft.com/office/drawing/2014/main" val="968078629"/>
                  </a:ext>
                </a:extLst>
              </a:tr>
            </a:tbl>
          </a:graphicData>
        </a:graphic>
      </p:graphicFrame>
      <p:sp>
        <p:nvSpPr>
          <p:cNvPr id="4" name="TextBox 59">
            <a:extLst>
              <a:ext uri="{FF2B5EF4-FFF2-40B4-BE49-F238E27FC236}">
                <a16:creationId xmlns:a16="http://schemas.microsoft.com/office/drawing/2014/main" id="{39F18D3B-925B-7174-7ECF-D8C680EEA533}"/>
              </a:ext>
            </a:extLst>
          </p:cNvPr>
          <p:cNvSpPr txBox="1"/>
          <p:nvPr/>
        </p:nvSpPr>
        <p:spPr>
          <a:xfrm>
            <a:off x="813580" y="343840"/>
            <a:ext cx="7887855" cy="38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8074" hangingPunct="0"/>
            <a:r>
              <a:rPr lang="pt-BR" sz="1873" kern="0">
                <a:solidFill>
                  <a:srgbClr val="FF0066"/>
                </a:solidFill>
                <a:latin typeface="Gotham HTF" pitchFamily="50" charset="0"/>
                <a:cs typeface="Gotham HTF Bold"/>
                <a:sym typeface="Helvetica Light"/>
              </a:rPr>
              <a:t>DATA SET - Dicionário de dados </a:t>
            </a:r>
          </a:p>
        </p:txBody>
      </p:sp>
      <p:sp>
        <p:nvSpPr>
          <p:cNvPr id="6" name="TextBox 59">
            <a:extLst>
              <a:ext uri="{FF2B5EF4-FFF2-40B4-BE49-F238E27FC236}">
                <a16:creationId xmlns:a16="http://schemas.microsoft.com/office/drawing/2014/main" id="{02F1CACF-4020-2952-F8C7-00FB86F6710F}"/>
              </a:ext>
            </a:extLst>
          </p:cNvPr>
          <p:cNvSpPr txBox="1"/>
          <p:nvPr/>
        </p:nvSpPr>
        <p:spPr>
          <a:xfrm>
            <a:off x="461519" y="190786"/>
            <a:ext cx="5217774" cy="338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6789"/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Data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Processing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</a:t>
            </a:r>
            <a:r>
              <a:rPr lang="pt-BR" sz="1599" err="1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with</a:t>
            </a:r>
            <a:r>
              <a:rPr lang="pt-BR" sz="1599">
                <a:solidFill>
                  <a:srgbClr val="ED145B"/>
                </a:solidFill>
                <a:latin typeface="Gotham HTF Bold"/>
                <a:cs typeface="Gotham HTF Light"/>
                <a:sym typeface="Helvetica Light"/>
              </a:rPr>
              <a:t> Python</a:t>
            </a:r>
            <a:endParaRPr lang="pt-BR" sz="1599">
              <a:solidFill>
                <a:srgbClr val="ED145B"/>
              </a:solidFill>
              <a:latin typeface="Gotham HTF Light"/>
              <a:cs typeface="Gotham HTF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0345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3850026" y="3292629"/>
            <a:ext cx="1567248" cy="246215"/>
            <a:chOff x="7919542" y="328894"/>
            <a:chExt cx="957000" cy="150345"/>
          </a:xfrm>
        </p:grpSpPr>
        <p:pic>
          <p:nvPicPr>
            <p:cNvPr id="20" name="Imagem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25" name="Picture 24" descr="mba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28646" y="3996024"/>
            <a:ext cx="4686710" cy="44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Copyright </a:t>
            </a:r>
            <a:r>
              <a:rPr lang="de-DE" sz="700" dirty="0">
                <a:solidFill>
                  <a:srgbClr val="A2B6C1"/>
                </a:solidFill>
                <a:latin typeface="Roboto Light"/>
                <a:cs typeface="Roboto Light"/>
              </a:rPr>
              <a:t>© 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2025 | Professor Dheny R. Fernandes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Todos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direitos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reservados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.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Reprodução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divulgação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total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parcial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deste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documento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,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é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expressamente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proibido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sem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consentimento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formal,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por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escrito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, do professor/</a:t>
            </a:r>
            <a:r>
              <a:rPr lang="en-US" sz="700" dirty="0" err="1">
                <a:solidFill>
                  <a:srgbClr val="A2B6C1"/>
                </a:solidFill>
                <a:latin typeface="Roboto Light"/>
                <a:cs typeface="Roboto Light"/>
              </a:rPr>
              <a:t>autor</a:t>
            </a:r>
            <a:r>
              <a:rPr lang="en-US" sz="700" dirty="0">
                <a:solidFill>
                  <a:srgbClr val="A2B6C1"/>
                </a:solidFill>
                <a:latin typeface="Roboto Light"/>
                <a:cs typeface="Roboto Light"/>
              </a:rPr>
              <a:t>.</a:t>
            </a:r>
          </a:p>
        </p:txBody>
      </p:sp>
      <p:sp>
        <p:nvSpPr>
          <p:cNvPr id="27" name="CaixaDeTexto 7"/>
          <p:cNvSpPr txBox="1">
            <a:spLocks noChangeArrowheads="1"/>
          </p:cNvSpPr>
          <p:nvPr/>
        </p:nvSpPr>
        <p:spPr bwMode="auto">
          <a:xfrm>
            <a:off x="5259671" y="2154968"/>
            <a:ext cx="153055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1100" dirty="0">
                <a:solidFill>
                  <a:srgbClr val="626E73"/>
                </a:solidFill>
                <a:latin typeface="Gotham HTF Book" charset="0"/>
                <a:cs typeface="Gotham HTF Book" charset="0"/>
              </a:rPr>
              <a:t>/dhenyfernandes</a:t>
            </a:r>
          </a:p>
        </p:txBody>
      </p:sp>
      <p:sp>
        <p:nvSpPr>
          <p:cNvPr id="28" name="CaixaDeTexto 7"/>
          <p:cNvSpPr txBox="1">
            <a:spLocks noChangeArrowheads="1"/>
          </p:cNvSpPr>
          <p:nvPr/>
        </p:nvSpPr>
        <p:spPr bwMode="auto">
          <a:xfrm>
            <a:off x="1758470" y="2139093"/>
            <a:ext cx="28251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pt-BR" sz="1100">
                <a:solidFill>
                  <a:srgbClr val="626E73"/>
                </a:solidFill>
                <a:latin typeface="Gotham HTF Book" charset="0"/>
                <a:cs typeface="Gotham HTF Book" charset="0"/>
              </a:rPr>
              <a:t>	profdheny.fernandes@fiap.com.br</a:t>
            </a:r>
            <a:endParaRPr lang="pt-BR" sz="1100" dirty="0">
              <a:solidFill>
                <a:srgbClr val="626E73"/>
              </a:solidFill>
              <a:latin typeface="Gotham HTF Book" charset="0"/>
              <a:cs typeface="Gotham HTF Book" charset="0"/>
            </a:endParaRPr>
          </a:p>
        </p:txBody>
      </p:sp>
      <p:pic>
        <p:nvPicPr>
          <p:cNvPr id="29" name="Imagem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359" y="2094643"/>
            <a:ext cx="336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1" y="760789"/>
            <a:ext cx="9144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626E73"/>
                </a:solidFill>
                <a:latin typeface="Gotham HTF Light"/>
                <a:cs typeface="Gotham HTF Light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32048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9144000" cy="51482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2" y="209197"/>
            <a:ext cx="8699498" cy="4708684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42" y="2140690"/>
            <a:ext cx="3204916" cy="8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4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</TotalTime>
  <Words>783</Words>
  <Application>Microsoft Macintosh PowerPoint</Application>
  <PresentationFormat>Personalizar</PresentationFormat>
  <Paragraphs>173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6" baseType="lpstr">
      <vt:lpstr>Arial</vt:lpstr>
      <vt:lpstr>Calibri</vt:lpstr>
      <vt:lpstr>Gotham HTF</vt:lpstr>
      <vt:lpstr>Gotham HTF Bold</vt:lpstr>
      <vt:lpstr>Gotham HTF Book</vt:lpstr>
      <vt:lpstr>Gotham HTF Light</vt:lpstr>
      <vt:lpstr>Gotham HTF Medium</vt:lpstr>
      <vt:lpstr>Roboto Light</vt:lpstr>
      <vt:lpstr>Segoe UI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Adriano</dc:creator>
  <cp:lastModifiedBy>Microsoft Office User</cp:lastModifiedBy>
  <cp:revision>130</cp:revision>
  <dcterms:created xsi:type="dcterms:W3CDTF">2019-02-15T12:16:11Z</dcterms:created>
  <dcterms:modified xsi:type="dcterms:W3CDTF">2025-07-28T13:58:22Z</dcterms:modified>
</cp:coreProperties>
</file>